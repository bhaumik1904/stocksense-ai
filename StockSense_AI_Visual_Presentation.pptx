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594360"/>
            <a:ext cx="5852013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StockSense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" y="1618488"/>
            <a:ext cx="3413674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584" y="1755648"/>
            <a:ext cx="56081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BD5E1"/>
                </a:solidFill>
                <a:latin typeface="Calibri"/>
              </a:rPr>
              <a:t>Your personal AI-powered
stock market assistant.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880360"/>
            <a:ext cx="56081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4748B"/>
                </a:solidFill>
                <a:latin typeface="Calibri"/>
              </a:rPr>
              <a:t>Search any stock. Get real-time prices, AI predictions,
news sentiment &amp; paper trading — all in one app.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" y="4041648"/>
            <a:ext cx="4632844" cy="356616"/>
          </a:xfrm>
          <a:prstGeom prst="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584" y="4059935"/>
            <a:ext cx="46328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4D399"/>
                </a:solidFill>
                <a:latin typeface="Calibri"/>
              </a:rPr>
              <a:t>Free to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" y="4517136"/>
            <a:ext cx="4632844" cy="356616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584" y="4535423"/>
            <a:ext cx="46328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  <a:latin typeface="Calibri"/>
              </a:rPr>
              <a:t>Indian Stocks (NSE/BSE)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" y="4992624"/>
            <a:ext cx="4632844" cy="356616"/>
          </a:xfrm>
          <a:prstGeom prst="rect">
            <a:avLst/>
          </a:prstGeom>
          <a:solidFill>
            <a:srgbClr val="0F172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584" y="5010912"/>
            <a:ext cx="46328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BBF24"/>
                </a:solidFill>
                <a:latin typeface="Calibri"/>
              </a:rPr>
              <a:t>AI Predictions</a:t>
            </a:r>
          </a:p>
        </p:txBody>
      </p:sp>
      <p:pic>
        <p:nvPicPr>
          <p:cNvPr id="14" name="Picture 13" descr="landing_page_clean_17760984365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866" y="320040"/>
            <a:ext cx="6858134" cy="6217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216359" y="6537960"/>
            <a:ext cx="9143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64592"/>
            <a:ext cx="1158211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731520"/>
            <a:ext cx="1158211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Calibri"/>
              </a:rPr>
              <a:t>Why do people avoid the stock market?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188720"/>
            <a:ext cx="11704027" cy="228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6709" y="1463040"/>
            <a:ext cx="2743131" cy="3017520"/>
          </a:xfrm>
          <a:prstGeom prst="rect">
            <a:avLst/>
          </a:prstGeom>
          <a:solidFill>
            <a:srgbClr val="0F172A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26709" y="1463040"/>
            <a:ext cx="2743131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6709" y="1600200"/>
            <a:ext cx="274313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  <a:latin typeface="Calibri"/>
              </a:rPr>
              <a:t>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709" y="2423160"/>
            <a:ext cx="27431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87171"/>
                </a:solidFill>
                <a:latin typeface="Calibri"/>
              </a:rPr>
              <a:t>Too Confusing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709" y="2834640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Charts and numbers look
overwhelming without any guidance.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7099" y="1463040"/>
            <a:ext cx="2743131" cy="3017520"/>
          </a:xfrm>
          <a:prstGeom prst="rect">
            <a:avLst/>
          </a:prstGeom>
          <a:solidFill>
            <a:srgbClr val="0F172A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77099" y="1463040"/>
            <a:ext cx="2743131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77099" y="1600200"/>
            <a:ext cx="274313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  <a:latin typeface="Calibri"/>
              </a:rPr>
              <a:t>⏱️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7099" y="2423160"/>
            <a:ext cx="27431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87171"/>
                </a:solidFill>
                <a:latin typeface="Calibri"/>
              </a:rPr>
              <a:t>Time-Consuming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099" y="2834640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Tracking multiple stocks
manually every day is exhausting.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489" y="1463040"/>
            <a:ext cx="2743131" cy="3017520"/>
          </a:xfrm>
          <a:prstGeom prst="rect">
            <a:avLst/>
          </a:prstGeom>
          <a:solidFill>
            <a:srgbClr val="0F172A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27489" y="1463040"/>
            <a:ext cx="2743131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489" y="1600200"/>
            <a:ext cx="274313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  <a:latin typeface="Calibri"/>
              </a:rPr>
              <a:t>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489" y="2423160"/>
            <a:ext cx="27431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87171"/>
                </a:solidFill>
                <a:latin typeface="Calibri"/>
              </a:rPr>
              <a:t>No Guidance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489" y="2834640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No easy way to know if a
stock will go UP or DOWN.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77880" y="1463040"/>
            <a:ext cx="2743131" cy="3017520"/>
          </a:xfrm>
          <a:prstGeom prst="rect">
            <a:avLst/>
          </a:prstGeom>
          <a:solidFill>
            <a:srgbClr val="0F172A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77880" y="1463040"/>
            <a:ext cx="2743131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77880" y="1600200"/>
            <a:ext cx="274313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  <a:latin typeface="Calibri"/>
              </a:rPr>
              <a:t>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7880" y="2423160"/>
            <a:ext cx="27431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87171"/>
                </a:solidFill>
                <a:latin typeface="Calibri"/>
              </a:rPr>
              <a:t>Fear of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7880" y="2834640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Scared to invest real money
without practicing first.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6709" y="4663440"/>
            <a:ext cx="11338276" cy="713232"/>
          </a:xfrm>
          <a:prstGeom prst="rect">
            <a:avLst/>
          </a:prstGeom>
          <a:solidFill>
            <a:srgbClr val="1A060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0543" y="4754880"/>
            <a:ext cx="1109444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StockSense AI solves ALL of this — for FREE, with real data and AI.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16359" y="6537960"/>
            <a:ext cx="9143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64592"/>
            <a:ext cx="1158211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Our Solution — StockSense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731520"/>
            <a:ext cx="1158211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Calibri"/>
              </a:rPr>
              <a:t>One app. Real-time data. AI predictions. Paper trading.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188720"/>
            <a:ext cx="11704027" cy="228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anding_page_clean_17760984365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09" y="1371600"/>
            <a:ext cx="7802684" cy="39776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34186" y="1463040"/>
            <a:ext cx="3596550" cy="768096"/>
          </a:xfrm>
          <a:prstGeom prst="rect">
            <a:avLst/>
          </a:prstGeom>
          <a:solidFill>
            <a:srgbClr val="0F17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34186" y="1463040"/>
            <a:ext cx="85341" cy="76809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53637" y="1554480"/>
            <a:ext cx="331614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AI Prediction shown
right on the homepage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34186" y="2432304"/>
            <a:ext cx="3596550" cy="768096"/>
          </a:xfrm>
          <a:prstGeom prst="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34186" y="2432304"/>
            <a:ext cx="85341" cy="7680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53637" y="2523744"/>
            <a:ext cx="331614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Search 5,000+ NSE/BSE
stocks instantly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34186" y="3401568"/>
            <a:ext cx="3596550" cy="768096"/>
          </a:xfrm>
          <a:prstGeom prst="rect">
            <a:avLst/>
          </a:prstGeom>
          <a:solidFill>
            <a:srgbClr val="0F172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34186" y="3401568"/>
            <a:ext cx="85341" cy="76809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53637" y="3493008"/>
            <a:ext cx="331614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Free to use — no
credit card required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34186" y="4370832"/>
            <a:ext cx="3596550" cy="768096"/>
          </a:xfrm>
          <a:prstGeom prst="rect">
            <a:avLst/>
          </a:prstGeom>
          <a:solidFill>
            <a:srgbClr val="0F172A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34186" y="4370832"/>
            <a:ext cx="85341" cy="76809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53637" y="4462272"/>
            <a:ext cx="331614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Real open/high/low/close
prices from Yahoo 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16359" y="6537960"/>
            <a:ext cx="9143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64592"/>
            <a:ext cx="1158211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Getting Started — Sign Up &amp; Log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731520"/>
            <a:ext cx="1158211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Calibri"/>
              </a:rPr>
              <a:t>Takes less than 30 seconds. No credit card. No charges.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188720"/>
            <a:ext cx="11704027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register_page_17760984378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1353312"/>
            <a:ext cx="5730096" cy="4251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50" y="5687568"/>
            <a:ext cx="5730096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50" y="5687568"/>
            <a:ext cx="85341" cy="7498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26" y="5742431"/>
            <a:ext cx="548626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Step 1:  Fill in your username, email &amp; password
and click Create Free Account.</a:t>
            </a:r>
          </a:p>
        </p:txBody>
      </p:sp>
      <p:pic>
        <p:nvPicPr>
          <p:cNvPr id="10" name="Picture 9" descr="login_page_17760984444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598" y="1353312"/>
            <a:ext cx="5730096" cy="4251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61598" y="5687568"/>
            <a:ext cx="5730096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61598" y="5687568"/>
            <a:ext cx="85341" cy="7498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44473" y="5742431"/>
            <a:ext cx="548626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Step 2:  Enter your username &amp; password.
You're in! Your dashboard loads instantly.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9547" y="3154680"/>
            <a:ext cx="6705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16359" y="6537960"/>
            <a:ext cx="9143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64592"/>
            <a:ext cx="1158211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Your Dashboard — Everything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731520"/>
            <a:ext cx="1158211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Calibri"/>
              </a:rPr>
              <a:t>Live stock prices, your watchlist, and market movers — all on one screen.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188720"/>
            <a:ext cx="11704027" cy="228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ashboard_initial_17760989912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1353312"/>
            <a:ext cx="11460193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865048" y="2898156"/>
            <a:ext cx="2316422" cy="685800"/>
          </a:xfrm>
          <a:prstGeom prst="rect">
            <a:avLst/>
          </a:prstGeom>
          <a:solidFill>
            <a:srgbClr val="050A14"/>
          </a:solidFill>
          <a:ln w="1651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65048" y="2989596"/>
            <a:ext cx="20725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38BDF8"/>
                </a:solidFill>
                <a:latin typeface="Calibri"/>
              </a:rPr>
              <a:t>Live ticker
tape on top</a:t>
            </a:r>
          </a:p>
        </p:txBody>
      </p:sp>
      <p:sp>
        <p:nvSpPr>
          <p:cNvPr id="9" name="Rectangle 8"/>
          <p:cNvSpPr/>
          <p:nvPr/>
        </p:nvSpPr>
        <p:spPr>
          <a:xfrm>
            <a:off x="2865048" y="4612804"/>
            <a:ext cx="2316422" cy="685800"/>
          </a:xfrm>
          <a:prstGeom prst="rect">
            <a:avLst/>
          </a:prstGeom>
          <a:solidFill>
            <a:srgbClr val="050A14"/>
          </a:solidFill>
          <a:ln w="1651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65048" y="4704244"/>
            <a:ext cx="20725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BBF24"/>
                </a:solidFill>
                <a:latin typeface="Calibri"/>
              </a:rPr>
              <a:t>Watchlist with
live prices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34215" y="2806716"/>
            <a:ext cx="2316422" cy="685800"/>
          </a:xfrm>
          <a:prstGeom prst="rect">
            <a:avLst/>
          </a:prstGeom>
          <a:solidFill>
            <a:srgbClr val="050A14"/>
          </a:solidFill>
          <a:ln w="1651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56132" y="2898156"/>
            <a:ext cx="20725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34D399"/>
                </a:solidFill>
                <a:latin typeface="Calibri"/>
              </a:rPr>
              <a:t>Search any
stock 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34215" y="4521364"/>
            <a:ext cx="2316422" cy="685800"/>
          </a:xfrm>
          <a:prstGeom prst="rect">
            <a:avLst/>
          </a:prstGeom>
          <a:solidFill>
            <a:srgbClr val="050A14"/>
          </a:soli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56132" y="4612804"/>
            <a:ext cx="20725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22D3EE"/>
                </a:solidFill>
                <a:latin typeface="Calibri"/>
              </a:rPr>
              <a:t>Quick stock
badges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16359" y="6537960"/>
            <a:ext cx="9143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5 / 13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A258AC2F-61EC-A037-BFBB-D63AE35FE993}"/>
              </a:ext>
            </a:extLst>
          </p:cNvPr>
          <p:cNvCxnSpPr/>
          <p:nvPr/>
        </p:nvCxnSpPr>
        <p:spPr>
          <a:xfrm rot="5400000" flipH="1" flipV="1">
            <a:off x="3663696" y="1921026"/>
            <a:ext cx="1059524" cy="89473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151A3CB-0728-A976-CE12-44DDE1287926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6339680" y="2278650"/>
            <a:ext cx="2994535" cy="8709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CC1AE75-0CBA-A175-C404-BAD6CE3EDA35}"/>
              </a:ext>
            </a:extLst>
          </p:cNvPr>
          <p:cNvCxnSpPr>
            <a:cxnSpLocks/>
            <a:stCxn id="9" idx="2"/>
          </p:cNvCxnSpPr>
          <p:nvPr/>
        </p:nvCxnSpPr>
        <p:spPr>
          <a:xfrm rot="5400000">
            <a:off x="3024549" y="4505978"/>
            <a:ext cx="206084" cy="179133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C733DC41-B6A5-D219-0633-57486AE20F6D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>
            <a:off x="6017343" y="2568972"/>
            <a:ext cx="3316873" cy="229529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0ACA92E0-9389-DC7D-9BA5-67602350B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" y="1284733"/>
            <a:ext cx="12192000" cy="525322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64592"/>
            <a:ext cx="1158211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Search a Stock — Get AI Prediction in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731520"/>
            <a:ext cx="1158211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Calibri"/>
              </a:rPr>
              <a:t>Type any ticker (e.g. TCS.NS, RELIANCE.NS) and hit Analyze.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188720"/>
            <a:ext cx="11704027" cy="228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76162" y="3657600"/>
            <a:ext cx="3291757" cy="640080"/>
          </a:xfrm>
          <a:prstGeom prst="rect">
            <a:avLst/>
          </a:prstGeom>
          <a:solidFill>
            <a:srgbClr val="040914"/>
          </a:solidFill>
          <a:ln w="1778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698" y="3712464"/>
            <a:ext cx="310888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8BDF8"/>
                </a:solidFill>
                <a:latin typeface="Calibri"/>
              </a:rPr>
              <a:t>Price chart — 6  months
of real historical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565968" y="5616727"/>
            <a:ext cx="3291757" cy="640080"/>
          </a:xfrm>
          <a:prstGeom prst="rect">
            <a:avLst/>
          </a:prstGeom>
          <a:solidFill>
            <a:srgbClr val="040914"/>
          </a:solidFill>
          <a:ln w="1778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57405" y="5671591"/>
            <a:ext cx="310888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22D3EE"/>
                </a:solidFill>
                <a:latin typeface="Calibri"/>
              </a:rPr>
              <a:t>News Sentiment
Bullish / Bearish / Neutral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17062" y="1389888"/>
            <a:ext cx="3047923" cy="658368"/>
          </a:xfrm>
          <a:prstGeom prst="rect">
            <a:avLst/>
          </a:prstGeom>
          <a:solidFill>
            <a:srgbClr val="040914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38979" y="1463040"/>
            <a:ext cx="2865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4D399"/>
                </a:solidFill>
                <a:latin typeface="Calibri"/>
              </a:rPr>
              <a:t>AI says: TCS.NS will be
₹2499 tomorrow (+1.07%)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22700" y="4626864"/>
            <a:ext cx="3047923" cy="640080"/>
          </a:xfrm>
          <a:prstGeom prst="rect">
            <a:avLst/>
          </a:prstGeom>
          <a:solidFill>
            <a:srgbClr val="040914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16084" y="4663440"/>
            <a:ext cx="28650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BBF24"/>
                </a:solidFill>
                <a:latin typeface="Calibri"/>
              </a:rPr>
              <a:t>Model accuracy scores —
MAE &amp; R² shown clearly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16359" y="6537960"/>
            <a:ext cx="9143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64592"/>
            <a:ext cx="1158211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the AI Prediction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731520"/>
            <a:ext cx="1158211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Calibri"/>
              </a:rPr>
              <a:t>A simple 5-step process — no technical knowledge needed!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188720"/>
            <a:ext cx="11704027" cy="228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4792" y="1417320"/>
            <a:ext cx="2194505" cy="3931920"/>
          </a:xfrm>
          <a:prstGeom prst="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4792" y="1417320"/>
            <a:ext cx="219450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60677" y="1600200"/>
            <a:ext cx="670543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677" y="1554480"/>
            <a:ext cx="67054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792" y="2249424"/>
            <a:ext cx="219450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  <a:latin typeface="Calibri"/>
              </a:rPr>
              <a:t>Step 1
Collect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792" y="2971800"/>
            <a:ext cx="219450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Downloads last
6 months of daily
closing prices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9297" y="2926080"/>
            <a:ext cx="2072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82172" y="1417320"/>
            <a:ext cx="2194505" cy="3931920"/>
          </a:xfrm>
          <a:prstGeom prst="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82172" y="1417320"/>
            <a:ext cx="2194505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38058" y="1600200"/>
            <a:ext cx="670543" cy="5029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38058" y="1554480"/>
            <a:ext cx="67054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2172" y="2249424"/>
            <a:ext cx="219450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D3EE"/>
                </a:solidFill>
                <a:latin typeface="Calibri"/>
              </a:rPr>
              <a:t>Step 2
Find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172" y="2971800"/>
            <a:ext cx="219450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Looks at the last
10 days to spot
price trends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6678" y="2926080"/>
            <a:ext cx="2072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59553" y="1417320"/>
            <a:ext cx="2194505" cy="3931920"/>
          </a:xfrm>
          <a:prstGeom prst="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59553" y="1417320"/>
            <a:ext cx="2194505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15438" y="1600200"/>
            <a:ext cx="670543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15438" y="1554480"/>
            <a:ext cx="67054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9553" y="2249424"/>
            <a:ext cx="219450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  <a:latin typeface="Calibri"/>
              </a:rPr>
              <a:t>Step 3
Train the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9553" y="2971800"/>
            <a:ext cx="219450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Trains on 80% of
the data — like
studying past exams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4058" y="2926080"/>
            <a:ext cx="2072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36934" y="1417320"/>
            <a:ext cx="2194505" cy="3931920"/>
          </a:xfrm>
          <a:prstGeom prst="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36934" y="1417320"/>
            <a:ext cx="2194505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92819" y="1600200"/>
            <a:ext cx="670543" cy="502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92819" y="1554480"/>
            <a:ext cx="67054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6934" y="2249424"/>
            <a:ext cx="219450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4D399"/>
                </a:solidFill>
                <a:latin typeface="Calibri"/>
              </a:rPr>
              <a:t>Step 4
Test Accuracy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36934" y="2971800"/>
            <a:ext cx="219450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Tests on the
remaining 20%
to check 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1439" y="2926080"/>
            <a:ext cx="2072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14314" y="1417320"/>
            <a:ext cx="2194505" cy="3931920"/>
          </a:xfrm>
          <a:prstGeom prst="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14314" y="1417320"/>
            <a:ext cx="2194505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570199" y="1600200"/>
            <a:ext cx="670543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70199" y="1554480"/>
            <a:ext cx="67054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4314" y="2249424"/>
            <a:ext cx="219450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87171"/>
                </a:solidFill>
                <a:latin typeface="Calibri"/>
              </a:rPr>
              <a:t>Step 5
Predict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14314" y="2971800"/>
            <a:ext cx="219450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Uses last 10 days
to predict tomorrow's
closing price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50" y="5532120"/>
            <a:ext cx="11460193" cy="804672"/>
          </a:xfrm>
          <a:prstGeom prst="rect">
            <a:avLst/>
          </a:prstGeom>
          <a:solidFill>
            <a:srgbClr val="051A09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3968" y="5623560"/>
            <a:ext cx="1109444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34D399"/>
                </a:solidFill>
                <a:latin typeface="Calibri"/>
              </a:rPr>
              <a:t>Result:  The AI tells you — "TCS.NS predicted price tomorrow: ₹2,499  ( +1.07% )  Trend: UP"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16359" y="6537960"/>
            <a:ext cx="9143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64592"/>
            <a:ext cx="1158211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Practice Trading — Risk Free!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731520"/>
            <a:ext cx="1158211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Calibri"/>
              </a:rPr>
              <a:t>Every user gets ₹10,00,000 virtual money to buy &amp; sell real stocks.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188720"/>
            <a:ext cx="11704027" cy="228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50" y="5687568"/>
            <a:ext cx="6949266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50" y="5687568"/>
            <a:ext cx="85341" cy="7498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26" y="5742431"/>
            <a:ext cx="6705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Your Portfolio page shows: total invested,
current value, and profit/loss for each stock you hold.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19809" y="1371600"/>
            <a:ext cx="4510927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809" y="1371600"/>
            <a:ext cx="487667" cy="777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19809" y="1371600"/>
            <a:ext cx="48766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E1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2819" y="1536192"/>
            <a:ext cx="384038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Start with ₹10 Lakh in virtual money — free!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19809" y="2286000"/>
            <a:ext cx="4510927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19809" y="2286000"/>
            <a:ext cx="487667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19809" y="2286000"/>
            <a:ext cx="48766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E1A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2819" y="2450592"/>
            <a:ext cx="384038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Search a stock, check the AI prediction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9809" y="3200400"/>
            <a:ext cx="4510927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19809" y="3200400"/>
            <a:ext cx="487667" cy="777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19809" y="3200400"/>
            <a:ext cx="48766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E1A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2819" y="3364992"/>
            <a:ext cx="384038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Click Trade, enter number of shares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19809" y="4114800"/>
            <a:ext cx="4510927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619809" y="4114800"/>
            <a:ext cx="487667" cy="777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19809" y="4114800"/>
            <a:ext cx="48766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E1A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2819" y="4279392"/>
            <a:ext cx="384038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Pay via Razorpay*, trade recorded instantly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19809" y="5029200"/>
            <a:ext cx="4510927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19809" y="5029200"/>
            <a:ext cx="487667" cy="7772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19809" y="5029200"/>
            <a:ext cx="48766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E1A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2819" y="5193792"/>
            <a:ext cx="384038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Calibri"/>
              </a:rPr>
              <a:t>Watch your portfolio grow (or learn lessons!)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9809" y="5989320"/>
            <a:ext cx="46328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* Razorpay is used for secure payment simulation (paper trading only)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16359" y="6537960"/>
            <a:ext cx="9143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8 / 13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C242BCC-C609-24C5-5A5B-34A32D916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99" y="1371600"/>
            <a:ext cx="3590442" cy="399722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C08D4C3-B907-FF56-4880-6C52AA678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1601" y="1371600"/>
            <a:ext cx="3902865" cy="39972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64592"/>
            <a:ext cx="1158211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Compare Stocks Side-by-Side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731520"/>
            <a:ext cx="1158211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Calibri"/>
              </a:rPr>
              <a:t>"Is TCS better than Infosys this year?" — Find out in one click.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188720"/>
            <a:ext cx="11704027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50" y="5687568"/>
            <a:ext cx="11460193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50" y="5687568"/>
            <a:ext cx="85341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26" y="5742431"/>
            <a:ext cx="1121635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Enter 2 or 3 stock names → The chart shows how each stock performed from Day 1.
Stocks are shown as % change so you can fairly compare TCS (₹2500) vs Infosys (₹1500).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16359" y="6537960"/>
            <a:ext cx="9143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9 / 13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E9D58B-03E6-ED38-DC62-431563024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1284732"/>
            <a:ext cx="11399235" cy="43296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64592"/>
            <a:ext cx="1158211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Market Explorer — Browse All Indian Stocks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731520"/>
            <a:ext cx="1158211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Calibri"/>
              </a:rPr>
              <a:t>Browse 5,000+ NSE/BSE stocks. Search by name. See live prices.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188720"/>
            <a:ext cx="11704027" cy="228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50" y="5687568"/>
            <a:ext cx="11460193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50" y="5687568"/>
            <a:ext cx="85341" cy="777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26" y="5742431"/>
            <a:ext cx="1121635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Scroll or search through all listed Indian stocks — see live price, day change &amp; % change.
Click any stock to jump straight to its full analysis page.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16359" y="6537960"/>
            <a:ext cx="9143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10 / 13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04870A-0C08-A9C1-48EF-9BEFF2834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6" y="1266443"/>
            <a:ext cx="11338277" cy="43479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64592"/>
            <a:ext cx="1158211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News Sentiment — Is the Market Feeling Bullish?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731520"/>
            <a:ext cx="1158211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Calibri"/>
              </a:rPr>
              <a:t>The app reads the latest news about any stock and tells you the mood.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188720"/>
            <a:ext cx="11704027" cy="228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50" y="5102352"/>
            <a:ext cx="3779425" cy="1115568"/>
          </a:xfrm>
          <a:prstGeom prst="rect">
            <a:avLst/>
          </a:prstGeom>
          <a:solidFill>
            <a:srgbClr val="0F17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50" y="5102352"/>
            <a:ext cx="3779425" cy="91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50" y="5230368"/>
            <a:ext cx="377942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4D399"/>
                </a:solidFill>
                <a:latin typeface="Calibri"/>
              </a:rPr>
              <a:t>BULLISH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26" y="5632704"/>
            <a:ext cx="341367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Positive news — good sign.
More people are likely buying.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1476" y="5102352"/>
            <a:ext cx="3779425" cy="1115568"/>
          </a:xfrm>
          <a:prstGeom prst="rect">
            <a:avLst/>
          </a:prstGeom>
          <a:solidFill>
            <a:srgbClr val="0F172A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1476" y="5102352"/>
            <a:ext cx="3779425" cy="914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1476" y="5230368"/>
            <a:ext cx="377942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87171"/>
                </a:solidFill>
                <a:latin typeface="Calibri"/>
              </a:rPr>
              <a:t>BEARISH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4352" y="5632704"/>
            <a:ext cx="341367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Negative news — caution.
More people might be selling.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17202" y="5102352"/>
            <a:ext cx="3779425" cy="1115568"/>
          </a:xfrm>
          <a:prstGeom prst="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17202" y="5102352"/>
            <a:ext cx="377942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7202" y="5230368"/>
            <a:ext cx="377942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8BDF8"/>
                </a:solidFill>
                <a:latin typeface="Calibri"/>
              </a:rPr>
              <a:t>NEUTRAL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0077" y="5632704"/>
            <a:ext cx="341367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Mixed or no strong news.
Not a clear signal either way.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16359" y="6537960"/>
            <a:ext cx="9143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11 / 13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F4D283D-FDAA-AA02-12C0-D2F76B306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1280160"/>
            <a:ext cx="11252050" cy="36654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584" y="164592"/>
            <a:ext cx="1158211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Your Complete Journey with StockSense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731520"/>
            <a:ext cx="1158211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BD5E1"/>
                </a:solidFill>
                <a:latin typeface="Calibri"/>
              </a:rPr>
              <a:t>From first visit to trading — here's the full 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188720"/>
            <a:ext cx="11704027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anding_page_clean_17760984365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" y="1463040"/>
            <a:ext cx="2096971" cy="2834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383" y="4370832"/>
            <a:ext cx="2096971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383" y="4407408"/>
            <a:ext cx="20969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8BDF8"/>
                </a:solidFill>
                <a:latin typeface="Calibri"/>
              </a:rPr>
              <a:t>Visit the website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01" y="1261872"/>
            <a:ext cx="670543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01" y="1188720"/>
            <a:ext cx="6705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E1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354" y="2697480"/>
            <a:ext cx="41451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pic>
        <p:nvPicPr>
          <p:cNvPr id="12" name="Picture 11" descr="register_page_17760984378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872" y="1463040"/>
            <a:ext cx="2096971" cy="28346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535872" y="4370832"/>
            <a:ext cx="2096971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35872" y="4407408"/>
            <a:ext cx="20969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22D3EE"/>
                </a:solidFill>
                <a:latin typeface="Calibri"/>
              </a:rPr>
              <a:t>Create an account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2990" y="1261872"/>
            <a:ext cx="670543" cy="3840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42990" y="1188720"/>
            <a:ext cx="6705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E1A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844" y="2697480"/>
            <a:ext cx="41451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pic>
        <p:nvPicPr>
          <p:cNvPr id="18" name="Picture 17" descr="dashboard_initial_17760989912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361" y="1463040"/>
            <a:ext cx="2096971" cy="283464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047361" y="4370832"/>
            <a:ext cx="2096971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47361" y="4407408"/>
            <a:ext cx="20969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BBF24"/>
                </a:solidFill>
                <a:latin typeface="Calibri"/>
              </a:rPr>
              <a:t>See your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54480" y="1261872"/>
            <a:ext cx="670543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54480" y="1188720"/>
            <a:ext cx="6705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E1A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4333" y="2697480"/>
            <a:ext cx="41451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pic>
        <p:nvPicPr>
          <p:cNvPr id="24" name="Picture 23" descr="analysis_tcs_ns_final_17760990816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8851" y="1463040"/>
            <a:ext cx="2096971" cy="283464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558851" y="4370832"/>
            <a:ext cx="2096971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58851" y="4407408"/>
            <a:ext cx="20969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34D399"/>
                </a:solidFill>
                <a:latin typeface="Calibri"/>
              </a:rPr>
              <a:t>Analyze a stock + 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65969" y="1261872"/>
            <a:ext cx="670543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65969" y="1188720"/>
            <a:ext cx="6705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E1A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5822" y="2697480"/>
            <a:ext cx="41451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pic>
        <p:nvPicPr>
          <p:cNvPr id="30" name="Picture 29" descr="portfolio_page_initial_17760990521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3765" y="1453896"/>
            <a:ext cx="2096971" cy="283464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0070340" y="4370832"/>
            <a:ext cx="2096971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70340" y="4407408"/>
            <a:ext cx="20969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87171"/>
                </a:solidFill>
                <a:latin typeface="Calibri"/>
              </a:rPr>
              <a:t>Buy &amp; track portfolio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777458" y="1261872"/>
            <a:ext cx="670543" cy="38404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777458" y="1188720"/>
            <a:ext cx="67054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E1A"/>
                </a:solidFill>
                <a:latin typeface="Calibri"/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50" y="5102352"/>
            <a:ext cx="11460193" cy="685800"/>
          </a:xfrm>
          <a:prstGeom prst="rect">
            <a:avLst/>
          </a:prstGeom>
          <a:solidFill>
            <a:srgbClr val="04122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9584" y="5184648"/>
            <a:ext cx="1109444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CBD5E1"/>
                </a:solidFill>
                <a:latin typeface="Calibri"/>
              </a:rPr>
              <a:t>All of this is FREE, works with real NSE/BSE data, and runs in your browser — no app to install!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16359" y="6537960"/>
            <a:ext cx="9143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anding_page_clean_17760984365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584" y="1143000"/>
            <a:ext cx="1097252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508" y="2267712"/>
            <a:ext cx="4876678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584" y="2423160"/>
            <a:ext cx="1097252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8BDF8"/>
                </a:solidFill>
                <a:latin typeface="Calibri"/>
              </a:rPr>
              <a:t>StockSense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3090672"/>
            <a:ext cx="1097252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BD5E1"/>
                </a:solidFill>
                <a:latin typeface="Calibri"/>
              </a:rPr>
              <a:t>Smart Stock Analytics &amp; AI-Powered Price Prediction
for Indian &amp; Global Markets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09" y="4005072"/>
            <a:ext cx="1792179" cy="384048"/>
          </a:xfrm>
          <a:prstGeom prst="rect">
            <a:avLst/>
          </a:prstGeom>
          <a:solidFill>
            <a:srgbClr val="0F3866"/>
          </a:solidFill>
          <a:ln w="1143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6709" y="4005072"/>
            <a:ext cx="17921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  <a:latin typeface="Calibri"/>
              </a:rPr>
              <a:t>Real-Time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6422" y="4005072"/>
            <a:ext cx="1792179" cy="384048"/>
          </a:xfrm>
          <a:prstGeom prst="rect">
            <a:avLst/>
          </a:prstGeom>
          <a:solidFill>
            <a:srgbClr val="0F3866"/>
          </a:solidFill>
          <a:ln w="1143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16422" y="4005072"/>
            <a:ext cx="17921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  <a:latin typeface="Calibri"/>
              </a:rPr>
              <a:t>AI Predictions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134" y="4005072"/>
            <a:ext cx="1792179" cy="384048"/>
          </a:xfrm>
          <a:prstGeom prst="rect">
            <a:avLst/>
          </a:prstGeom>
          <a:solidFill>
            <a:srgbClr val="0F3866"/>
          </a:solidFill>
          <a:ln w="1143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134" y="4005072"/>
            <a:ext cx="17921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  <a:latin typeface="Calibri"/>
              </a:rPr>
              <a:t>Paper Trading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4005072"/>
            <a:ext cx="1792179" cy="384048"/>
          </a:xfrm>
          <a:prstGeom prst="rect">
            <a:avLst/>
          </a:prstGeom>
          <a:solidFill>
            <a:srgbClr val="0F3866"/>
          </a:solidFill>
          <a:ln w="1143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95847" y="4005072"/>
            <a:ext cx="17921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  <a:latin typeface="Calibri"/>
              </a:rPr>
              <a:t>News Sentiment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85560" y="4005072"/>
            <a:ext cx="1792179" cy="384048"/>
          </a:xfrm>
          <a:prstGeom prst="rect">
            <a:avLst/>
          </a:prstGeom>
          <a:solidFill>
            <a:srgbClr val="0F3866"/>
          </a:solidFill>
          <a:ln w="1143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85560" y="4005072"/>
            <a:ext cx="17921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  <a:latin typeface="Calibri"/>
              </a:rPr>
              <a:t>Stock Compare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273" y="4005072"/>
            <a:ext cx="1792179" cy="384048"/>
          </a:xfrm>
          <a:prstGeom prst="rect">
            <a:avLst/>
          </a:prstGeom>
          <a:solidFill>
            <a:srgbClr val="0F3866"/>
          </a:solidFill>
          <a:ln w="1143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273" y="4005072"/>
            <a:ext cx="17921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  <a:latin typeface="Calibri"/>
              </a:rPr>
              <a:t>Market Explorer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16359" y="6537960"/>
            <a:ext cx="9143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 / 13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E7B025-42D8-6A5D-2D4B-2A2C53043EE3}"/>
              </a:ext>
            </a:extLst>
          </p:cNvPr>
          <p:cNvSpPr txBox="1"/>
          <p:nvPr/>
        </p:nvSpPr>
        <p:spPr>
          <a:xfrm>
            <a:off x="4583917" y="4621382"/>
            <a:ext cx="63659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Arial Black" panose="020B0A040201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TEAM DETAILS - </a:t>
            </a:r>
          </a:p>
          <a:p>
            <a:r>
              <a:rPr lang="en-IN" sz="1600" dirty="0">
                <a:solidFill>
                  <a:schemeClr val="bg1"/>
                </a:solidFill>
                <a:latin typeface="Centaur" panose="02030504050205020304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Bhaumik Hinunia – AP24110010182</a:t>
            </a:r>
          </a:p>
          <a:p>
            <a:r>
              <a:rPr lang="en-IN" sz="1600" dirty="0">
                <a:solidFill>
                  <a:schemeClr val="bg1"/>
                </a:solidFill>
                <a:latin typeface="Centaur" panose="02030504050205020304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Prakhar Raj – AP24110010193</a:t>
            </a:r>
          </a:p>
          <a:p>
            <a:r>
              <a:rPr lang="en-IN" sz="1600" dirty="0">
                <a:solidFill>
                  <a:schemeClr val="bg1"/>
                </a:solidFill>
                <a:latin typeface="Centaur" panose="02030504050205020304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Manya Srivastava – AP24110010171</a:t>
            </a:r>
          </a:p>
          <a:p>
            <a:r>
              <a:rPr lang="en-IN" sz="1600" dirty="0">
                <a:solidFill>
                  <a:schemeClr val="bg1"/>
                </a:solidFill>
                <a:latin typeface="Centaur" panose="02030504050205020304" pitchFamily="18" charset="0"/>
                <a:ea typeface="Calibri Light" panose="020F0302020204030204" pitchFamily="34" charset="0"/>
                <a:cs typeface="Calibri Light" panose="020F0302020204030204" pitchFamily="34" charset="0"/>
              </a:rPr>
              <a:t>Jayanti Yadav – AP24110010132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930</Words>
  <Application>Microsoft Office PowerPoint</Application>
  <PresentationFormat>Widescreen</PresentationFormat>
  <Paragraphs>138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Centaur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Bhaumik Hinunia</cp:lastModifiedBy>
  <cp:revision>3</cp:revision>
  <dcterms:created xsi:type="dcterms:W3CDTF">2013-01-27T09:14:16Z</dcterms:created>
  <dcterms:modified xsi:type="dcterms:W3CDTF">2026-04-13T18:27:32Z</dcterms:modified>
  <cp:category/>
</cp:coreProperties>
</file>